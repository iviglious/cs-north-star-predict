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4610"/>
  </p:normalViewPr>
  <p:slideViewPr>
    <p:cSldViewPr snapToGrid="0" snapToObjects="1">
      <p:cViewPr>
        <p:scale>
          <a:sx n="140" d="100"/>
          <a:sy n="140" d="100"/>
        </p:scale>
        <p:origin x="144" y="-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1295C"/>
                </a:solidFill>
                <a:latin typeface="Calibri"/>
              </a:defRPr>
            </a:pPr>
            <a:r>
              <a:rPr lang="en-GB" sz="1200" b="0" i="0" u="none" strike="noStrike">
                <a:solidFill>
                  <a:srgbClr val="21295C"/>
                </a:solidFill>
                <a:latin typeface="Calibri"/>
              </a:rPr>
              <a:t>assigned_team test accuracy by evaluation slice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A3F4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solved_only</c:v>
                </c:pt>
                <c:pt idx="1">
                  <c:v>active_only</c:v>
                </c:pt>
                <c:pt idx="2">
                  <c:v>all_cases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70.7</c:v>
                </c:pt>
                <c:pt idx="1">
                  <c:v>73.5</c:v>
                </c:pt>
                <c:pt idx="2">
                  <c:v>71.599999999999994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DE-F145-8FCB-A70E60E58A4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tree</c:v>
                </c:pt>
              </c:strCache>
            </c:strRef>
          </c:tx>
          <c:spPr>
            <a:solidFill>
              <a:srgbClr val="B9C2C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A3F4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solved_only</c:v>
                </c:pt>
                <c:pt idx="1">
                  <c:v>active_only</c:v>
                </c:pt>
                <c:pt idx="2">
                  <c:v>all_cases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71.099999999999994</c:v>
                </c:pt>
                <c:pt idx="1">
                  <c:v>55.9</c:v>
                </c:pt>
                <c:pt idx="2">
                  <c:v>66.400000000000006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3DE-F145-8FCB-A70E60E58A4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A3F4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solved_only</c:v>
                </c:pt>
                <c:pt idx="1">
                  <c:v>active_only</c:v>
                </c:pt>
                <c:pt idx="2">
                  <c:v>all_cases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63.8</c:v>
                </c:pt>
                <c:pt idx="1">
                  <c:v>68.400000000000006</c:v>
                </c:pt>
                <c:pt idx="2">
                  <c:v>65.2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3DE-F145-8FCB-A70E60E58A4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</c:scaling>
        <c:delete val="0"/>
        <c:axPos val="l"/>
        <c:majorGridlines>
          <c:spPr>
            <a:ln w="9525" cap="flat">
              <a:solidFill>
                <a:srgbClr val="E3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1295C"/>
                </a:solidFill>
                <a:latin typeface="Calibri"/>
              </a:defRPr>
            </a:pPr>
            <a:r>
              <a:rPr lang="en-GB" sz="1200" b="0" i="0" u="none" strike="noStrike">
                <a:solidFill>
                  <a:srgbClr val="21295C"/>
                </a:solidFill>
                <a:latin typeface="Calibri"/>
              </a:rPr>
              <a:t>Monthly case volume — June flagged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 volume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5C6B7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185</c:v>
                </c:pt>
                <c:pt idx="1">
                  <c:v>195</c:v>
                </c:pt>
                <c:pt idx="2">
                  <c:v>140</c:v>
                </c:pt>
                <c:pt idx="3">
                  <c:v>155</c:v>
                </c:pt>
                <c:pt idx="4">
                  <c:v>145</c:v>
                </c:pt>
                <c:pt idx="5">
                  <c:v>170</c:v>
                </c:pt>
                <c:pt idx="6">
                  <c:v>130</c:v>
                </c:pt>
                <c:pt idx="7">
                  <c:v>160</c:v>
                </c:pt>
                <c:pt idx="8">
                  <c:v>150</c:v>
                </c:pt>
                <c:pt idx="9">
                  <c:v>165</c:v>
                </c:pt>
                <c:pt idx="10">
                  <c:v>135</c:v>
                </c:pt>
                <c:pt idx="11">
                  <c:v>135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F9-E447-8858-8848400FEA4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EF2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3291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-2194560"/>
            <a:ext cx="6858000" cy="6858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875520" y="3474720"/>
            <a:ext cx="4572000" cy="45720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3383280" cy="384048"/>
          </a:xfrm>
          <a:prstGeom prst="roundRect">
            <a:avLst>
              <a:gd name="adj" fmla="val 19048"/>
            </a:avLst>
          </a:prstGeom>
          <a:solidFill>
            <a:srgbClr val="0B3A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· OPS INSIGHT TOOL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Northstar Desk Ops Insight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Trends, spikes, and filters that help a team lead decide where to look first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56692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7033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1,865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48640" y="4251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· Jan–Dec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37033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383280" y="4251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teams, 10 categories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37033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217920" y="4251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exports merged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950976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Northstar doesn't want a black box, it wants a faster team lead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952244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Northstar Desk handles a steady stream of billing, access, reporting, integration, bug and outage cases. This prototype is a decision-support surface for the ops team lead.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3429000"/>
            <a:ext cx="3429000" cy="1514139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blurRad="101600" dist="38100" dir="5400000" algn="bl" rotWithShape="0">
              <a:srgbClr val="9AA5AD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3703320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37033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42519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summary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51960" y="3429000"/>
            <a:ext cx="3429000" cy="1514139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blurRad="101600" dist="38100" dir="5400000" algn="bl" rotWithShape="0">
              <a:srgbClr val="9AA5AD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26280" y="370332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26280" y="37033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26280" y="42519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Prioritisation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909560" y="3429000"/>
            <a:ext cx="3429000" cy="1514139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blurRad="101600" dist="38100" dir="5400000" algn="bl" rotWithShape="0">
              <a:srgbClr val="9AA5AD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83880" y="3703320"/>
            <a:ext cx="420624" cy="420624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183880" y="37033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183880" y="42519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story &amp; roadmap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3843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2356" y="1848971"/>
            <a:ext cx="82296" cy="487321"/>
          </a:xfrm>
          <a:prstGeom prst="round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0476" y="1666091"/>
            <a:ext cx="5349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monthly exports into one frame: Jan–Dec CSVs loaded and schema-checked against a fixed 25-column contract before anything else runs.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0476" y="2351756"/>
            <a:ext cx="5349240" cy="695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Q1-Feb shipped 27 rows missing the gender column. Repair inserts a blank in place rather than dropping the row, and every fix is written to a repair log so it's auditable, not invisible.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0476" y="2927963"/>
            <a:ext cx="5349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 parsed to UTC; escalated cast to boolean; tags split into a multi-label list rather than a free-text blob so it can be one-hot/binarised properly.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46520" y="1417320"/>
            <a:ext cx="5166360" cy="4754880"/>
          </a:xfrm>
          <a:prstGeom prst="roundRect">
            <a:avLst>
              <a:gd name="adj" fmla="val 1731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66560" y="16459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data is read as signal, not noise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66560" y="23317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FD7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24.7%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766560" y="28346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cases have no resolution_time_hours — expected: open/pending/on_hold cases haven't resolved yet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66560" y="363016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FD7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~43%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766560" y="4133088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cases have no CSAT score — CSAT is only ever collected on solved cases (~78% coverage there)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0" y="492861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FD7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766560" y="5431536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ethics-sensitive columns (tenure, region, age band, gender) kept in a separate audit frame, excluded from model features entirely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88216525-153F-0E4B-6BFB-079D1B31ED1A}"/>
              </a:ext>
            </a:extLst>
          </p:cNvPr>
          <p:cNvSpPr/>
          <p:nvPr/>
        </p:nvSpPr>
        <p:spPr>
          <a:xfrm>
            <a:off x="562356" y="2482328"/>
            <a:ext cx="82296" cy="487321"/>
          </a:xfrm>
          <a:prstGeom prst="round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300F7606-6B5D-D657-7842-EF43DBF01881}"/>
              </a:ext>
            </a:extLst>
          </p:cNvPr>
          <p:cNvSpPr/>
          <p:nvPr/>
        </p:nvSpPr>
        <p:spPr>
          <a:xfrm>
            <a:off x="562356" y="3115685"/>
            <a:ext cx="82296" cy="487321"/>
          </a:xfrm>
          <a:prstGeom prst="round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1435C468-3C78-C6F5-A733-96F1D1998B33}"/>
              </a:ext>
            </a:extLst>
          </p:cNvPr>
          <p:cNvSpPr/>
          <p:nvPr/>
        </p:nvSpPr>
        <p:spPr>
          <a:xfrm>
            <a:off x="548640" y="3731291"/>
            <a:ext cx="82296" cy="487321"/>
          </a:xfrm>
          <a:prstGeom prst="round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49C07B78-EBE3-1466-BE1E-73AF09050F21}"/>
              </a:ext>
            </a:extLst>
          </p:cNvPr>
          <p:cNvSpPr/>
          <p:nvPr/>
        </p:nvSpPr>
        <p:spPr>
          <a:xfrm>
            <a:off x="548640" y="4359807"/>
            <a:ext cx="82296" cy="487321"/>
          </a:xfrm>
          <a:prstGeom prst="round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80099654-99F2-B776-63A6-6CBD3F14F227}"/>
              </a:ext>
            </a:extLst>
          </p:cNvPr>
          <p:cNvSpPr/>
          <p:nvPr/>
        </p:nvSpPr>
        <p:spPr>
          <a:xfrm>
            <a:off x="548640" y="4944215"/>
            <a:ext cx="82296" cy="487321"/>
          </a:xfrm>
          <a:prstGeom prst="round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4F4208-8E10-1C80-B6B3-7165DC15D23A}"/>
              </a:ext>
            </a:extLst>
          </p:cNvPr>
          <p:cNvSpPr txBox="1"/>
          <p:nvPr/>
        </p:nvSpPr>
        <p:spPr>
          <a:xfrm>
            <a:off x="760476" y="3790285"/>
            <a:ext cx="53700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Q4-Nov.csv was byte-for-byte identical to Q4-Dec.csv,every timestamp fell in December. Dropped rather than double-counted.</a:t>
            </a:r>
            <a:endParaRPr lang="en-US" sz="900" dirty="0"/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2A56845F-4463-C01B-FCB3-6575F162DE82}"/>
              </a:ext>
            </a:extLst>
          </p:cNvPr>
          <p:cNvSpPr/>
          <p:nvPr/>
        </p:nvSpPr>
        <p:spPr>
          <a:xfrm>
            <a:off x="760476" y="4417773"/>
            <a:ext cx="5349240" cy="4823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~27 rows had a blank gender field, which silently shifted every later column left by one. Repaired where real, dropped where spam.</a:t>
            </a:r>
            <a:endParaRPr lang="en-US" sz="900" dirty="0"/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4BC5D153-E139-7296-F6A2-7FD442E6B354}"/>
              </a:ext>
            </a:extLst>
          </p:cNvPr>
          <p:cNvSpPr/>
          <p:nvPr/>
        </p:nvSpPr>
        <p:spPr>
          <a:xfrm>
            <a:off x="760476" y="5020056"/>
            <a:ext cx="4600239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Booleans (True/FALSE/true), gender codes (M vs Male) and blank vs zero values were standardised.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SUMMARY ·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Modelling choices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assigned_team, from intake-time features only (channel, priority, SLA target, plan tier, sentiment, tags.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Jan–Jun, test Jul–Sep, holdout Oct–Dec, mirroring how the tool would be used.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2148840"/>
          <a:ext cx="667512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452360" y="2148840"/>
            <a:ext cx="4160520" cy="3246120"/>
          </a:xfrm>
          <a:prstGeom prst="roundRect">
            <a:avLst>
              <a:gd name="adj" fmla="val 2254"/>
            </a:avLst>
          </a:prstGeom>
          <a:solidFill>
            <a:srgbClr val="CF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680960" y="233172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escalation_team — the model NOT shipped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680960" y="2926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966960" y="2926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42.9%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680960" y="33101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966960" y="331012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46.4%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680960" y="369417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966960" y="369417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42.9%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680960" y="4123944"/>
            <a:ext cx="3749040" cy="0"/>
          </a:xfrm>
          <a:prstGeom prst="line">
            <a:avLst/>
          </a:prstGeom>
          <a:noFill/>
          <a:ln w="12700">
            <a:solidFill>
              <a:srgbClr val="C7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680960" y="421538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baseline (always guess “engineering”)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966960" y="421538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68.6%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680960" y="4764024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underperforms just guessing the majority class — see next slide.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48640" y="55321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Majority-class baseline for assigned_team (6 classes) is 32.8% — logistic clears it by ~40 points on every slice.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SUMMARY 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721224"/>
            <a:ext cx="5349240" cy="466344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12518" y="175080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5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logistic won</a:t>
            </a:r>
            <a:endParaRPr lang="en-US" sz="15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822960" y="2461888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2075688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tree's edge on solved_only is 0.3pt (71.1% vs 70.7%) — noise on 304 test rows, roughly one case.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3422008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51560" y="3035808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slices that matter operationally — active_only and all_cases, i.e. cases still in flight — logistic wins clearly: 73.5% vs 55.9%, and 71.6% vs 66.4%.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4382128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51560" y="3995928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per category are one sentence to explain to a compliance reviewer; a depth-8 tree isn't.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5342248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51560" y="4956048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class_weight="balanced" stops it defaulting to “always say engineering” despite a 611-vs-105 team imbalance.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1742737"/>
            <a:ext cx="5349240" cy="466344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66560" y="178657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escalation-team routing isn't shipped</a:t>
            </a:r>
            <a:endParaRPr lang="en-US" sz="145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537960" y="2483401"/>
            <a:ext cx="82296" cy="82296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66560" y="2075688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team is only recorded for 175 of 237 escalated cases — a small, further-shrunk modelling set: 117 train / 28 test / 23 holdout rows.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37960" y="3443521"/>
            <a:ext cx="82296" cy="82296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66560" y="3035808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majority class (“engineering”, 68.6% of known outcomes) beats all three trained models outright — best model (tree) is 46.4%.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37960" y="4403641"/>
            <a:ext cx="82296" cy="82296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766560" y="3995928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a routing suggestion that's worse than not asking would create false confidence, not decision support.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37960" y="5363761"/>
            <a:ext cx="82296" cy="82296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766560" y="4956048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keep escalation as a descriptive ops signal (rate, volume, trend) in the insight tool — don't predict it.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SUMMARY 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508760" y="180136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limitations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68680" y="2587752"/>
            <a:ext cx="73152" cy="73152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97280" y="2441448"/>
            <a:ext cx="44348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accuracy means roughly 3 in 10 category suggestions need a human correction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68680" y="3337560"/>
            <a:ext cx="73152" cy="73152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97280" y="3191256"/>
            <a:ext cx="44348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categories have limited training examples (as few as ~76 cases), confidence scores there are directional, not precise.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68680" y="4087368"/>
            <a:ext cx="73152" cy="73152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097280" y="3941064"/>
            <a:ext cx="44348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time-based validation yet, trained and tested on a random split, not “train on early months, test on later ones.”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68680" y="4837176"/>
            <a:ext cx="73152" cy="73152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097280" y="4690872"/>
            <a:ext cx="44348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escalation model can pick up on correlated wording (e.g. “urgent”) without knowing true cause.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68680" y="5586984"/>
            <a:ext cx="73152" cy="73152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97280" y="5440680"/>
            <a:ext cx="44348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is missing from the data entirely — no seasonal claims can be made for it.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989320" y="15544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6949440" y="180136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D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Interpretability choices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6309360" y="2587752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6537960" y="2441448"/>
            <a:ext cx="44348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suggestion shows its confidence (%) and top alternatives, not one silent answer.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309360" y="3337560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6537960" y="3191256"/>
            <a:ext cx="44348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and subcategory prediction are shown as a tree, mirroring how the team already thinks about tickets.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6309360" y="4087368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6537960" y="3941064"/>
            <a:ext cx="44348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risk is bucketed into Low/Medium/High with a plain-language reason, not a raw model score.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6309360" y="4837176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6537960" y="4690872"/>
            <a:ext cx="44348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risk is flagged, the tool names which team has actually handled similar escalations before — an evidenced suggestion, not a guess.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6309360" y="5586984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6537960" y="5440680"/>
            <a:ext cx="44348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attributes (age, gender, region) are never used as model inputs, anywhere.</a:t>
            </a:r>
            <a:endParaRPr lang="en-US" sz="1150" dirty="0"/>
          </a:p>
        </p:txBody>
      </p:sp>
      <p:sp>
        <p:nvSpPr>
          <p:cNvPr id="32" name="Text 2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Northstar Desk  ·  Case Router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INSIGHT · PRIORITISATION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should a team lead look at first?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how early each signal reveals a real problem — not by how easy it is to compute.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7EB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1828800"/>
            <a:ext cx="420624" cy="420624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828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417320" y="1837944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CF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17320" y="1837944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signal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017520" y="1746504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Escalation-rate trend, by month &amp; category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355080" y="1746504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hit 41.8% escalated vs a 5–13% baseline in every other month — the single clearest “something broke” flag in the data.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532888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7EB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49808" y="2670048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9808" y="26700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417320" y="2679192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CF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417320" y="2679192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triage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017520" y="2587752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backlog — oldest open/pending/new cases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55080" y="2587752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498 cases are still active, averaging 196 days old; the oldest are past 360 days. Volume alone hides this — age surfaces it.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7EB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49808" y="3511296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9808" y="35112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417320" y="352044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CF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417320" y="352044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proxy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017520" y="342900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+ High share of incoming volume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355080" y="342900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Ranges 19–37% in a normal month but hit 55% in June — read week-over-week as a share, not as a raw count.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215384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7EB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49808" y="435254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49808" y="435254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417320" y="4361688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CF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417320" y="436168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triage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017520" y="427024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load concentration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355080" y="4270248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+ Support carry 71% of the active caseload (354 of 498 open cases) — flags where headcount is stretched thinnest.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5056632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7EB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49808" y="5193792"/>
            <a:ext cx="420624" cy="420624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49808" y="51937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417320" y="5202936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CF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417320" y="5202936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signal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017520" y="5111496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quality — CSAT &amp; sentiment by team/category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355080" y="5111496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team CSAT averages 3.43/5, Engineering 3.18/5, versus 4.4–4.6 for Support/Ops/Security — volume isn't the only story.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INSIGHT · THE FRAMEWORK IN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Filtering to month = June shows exactly why this matters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667512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3611880" y="1600200"/>
            <a:ext cx="475488" cy="2487168"/>
          </a:xfrm>
          <a:prstGeom prst="roundRect">
            <a:avLst>
              <a:gd name="adj" fmla="val 7692"/>
            </a:avLst>
          </a:prstGeom>
          <a:solidFill>
            <a:srgbClr val="E4572E">
              <a:alpha val="18000"/>
            </a:srgbClr>
          </a:solidFill>
          <a:ln w="15875">
            <a:solidFill>
              <a:srgbClr val="E4572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452628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rate: 41.8% in June vs 5–13% typical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52360" y="1417320"/>
            <a:ext cx="4160520" cy="5074920"/>
          </a:xfrm>
          <a:prstGeom prst="roundRect">
            <a:avLst>
              <a:gd name="adj" fmla="val 197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680960" y="15727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Drill into June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680960" y="201168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7FD7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114 of 170 cases (67%)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680960" y="2331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integrations — one category driving the whole spike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680960" y="28803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7FD7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131 of 170 cases (77%)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768096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Engineering — workload triage points there first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680960" y="374904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7FD7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56.1%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7680960" y="4069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rate within integrations specifically (vs 41.8% for June overall)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680960" y="4636008"/>
            <a:ext cx="3657600" cy="0"/>
          </a:xfrm>
          <a:prstGeom prst="line">
            <a:avLst/>
          </a:prstGeom>
          <a:noFill/>
          <a:ln w="12700">
            <a:solidFill>
              <a:srgbClr val="3E5A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680960" y="47457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 the tool must surface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680960" y="5020056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looked like a 93% SLA-breach month — but 123 of 130 July cases are simply missing resolution_time_hours. That's a data gap, not an ops failure. A KPI must be sanity-checked against completeness before a team lead trusts it.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USER-FACING STORY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team lead who starts each week asking “where's it hurting?”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4663440"/>
          </a:xfrm>
          <a:prstGeom prst="roundRect">
            <a:avLst>
              <a:gd name="adj" fmla="val 2308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08760" y="1783080"/>
            <a:ext cx="1645920" cy="1645920"/>
          </a:xfrm>
          <a:prstGeom prst="ellipse">
            <a:avLst/>
          </a:prstGeom>
          <a:solidFill>
            <a:srgbClr val="0B3A56"/>
          </a:solidFill>
          <a:ln w="19050">
            <a:solidFill>
              <a:srgbClr val="7FD7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508760" y="178308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FD7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3566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Ops Team Lead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weekly capacity across Engineering, Support, Billing, Data, Security and Operations. Not a data scientist — needs answers, not model output.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507492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don't need a prediction. I need to know what to look at before my 9am stand-up.”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463040"/>
            <a:ext cx="7269480" cy="2148840"/>
          </a:xfrm>
          <a:prstGeom prst="roundRect">
            <a:avLst>
              <a:gd name="adj" fmla="val 3830"/>
            </a:avLst>
          </a:prstGeom>
          <a:solidFill>
            <a:srgbClr val="CF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0" y="1627632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it solves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0" y="1993392"/>
            <a:ext cx="6766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volume, escalations and backlog are spread across a case-management export nobody has time to pivot-table daily. By the time a spike is visible in a monthly report, the team has already been firefighting it for weeks. The tool turns that lag into a same-day filter.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43400" y="379476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 workflow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343400" y="425196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471416" y="443484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471416" y="44348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453128" y="49377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53128" y="5230368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Team, date range, priority, category — whatever the stand-up is about today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63056" y="425196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91072" y="443484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91072" y="44348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72784" y="49377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72784" y="5230368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Escalation-rate trend and urgent/high share against their own baseline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982712" y="425196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110728" y="443484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110728" y="44348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092440" y="49377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092440" y="5230368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the flagged category or team to see the driving cases directly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802368" y="425196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930384" y="443484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930384" y="44348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912096" y="49377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912096" y="5230368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Reallocate headcount or flag to their manager — with numbers already in hand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another week or a real internal build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82296" cy="26060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" y="158191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04672" y="196596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3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Backfill / re-export July — resolve the 94%-missing resolution_time_hours before trusting SLA KPIs</a:t>
            </a:r>
            <a:endParaRPr lang="en-US" sz="930" dirty="0"/>
          </a:p>
        </p:txBody>
      </p:sp>
      <p:sp>
        <p:nvSpPr>
          <p:cNvPr id="8" name="Text 6"/>
          <p:cNvSpPr/>
          <p:nvPr/>
        </p:nvSpPr>
        <p:spPr>
          <a:xfrm>
            <a:off x="804672" y="2624328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3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Reconcile the 62 escalated cases with no escalation_team on record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804672" y="3282696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3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a data-freshness indicator to the app itself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4343400" y="1463040"/>
            <a:ext cx="361188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43400" y="1463040"/>
            <a:ext cx="82296" cy="26060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99432" y="158191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Modelling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99432" y="196596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3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Re-attempt escalation-team routing once labelled volume clears a few hundred rows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4599432" y="2624328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3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Track assigned_team accuracy per month to catch drift as new categories emerge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4599432" y="3282696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3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Calibrate confidence, not just accuracy, if a suggestion is ever shown to a user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8138160" y="1463040"/>
            <a:ext cx="361188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138160" y="1463040"/>
            <a:ext cx="82296" cy="2606040"/>
          </a:xfrm>
          <a:prstGeom prst="rect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94192" y="158191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UX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94192" y="196596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3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Saved filter views per team lead (“my team, last 4 weeks”)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8394192" y="2624328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3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weekly digest instead of requiring a login to notice a spike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8394192" y="3282696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3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Mobile-friendly summary for the stand-up itself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2468880" y="43434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468880" y="4343400"/>
            <a:ext cx="82296" cy="22860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24912" y="44622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2724912" y="48463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3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Formal sign-off that tenure/region/age/gender stay analysis-only, never routing features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2724912" y="54406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3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Periodic fairness audit of assigned_team outcomes against those same ethics columns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2724912" y="60350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3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Clear “this is descriptive, not predictive” labelling wherever escalation appears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6263640" y="43434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263640" y="4343400"/>
            <a:ext cx="82296" cy="2286000"/>
          </a:xfrm>
          <a:prstGeom prst="rect">
            <a:avLst/>
          </a:prstGeom>
          <a:solidFill>
            <a:srgbClr val="2FA8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519672" y="44622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519672" y="48463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3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Alerting when a category's escalation rate exceeds its own trailing baseline</a:t>
            </a:r>
            <a:endParaRPr lang="en-US" sz="930" dirty="0"/>
          </a:p>
        </p:txBody>
      </p:sp>
      <p:sp>
        <p:nvSpPr>
          <p:cNvPr id="32" name="Text 30"/>
          <p:cNvSpPr/>
          <p:nvPr/>
        </p:nvSpPr>
        <p:spPr>
          <a:xfrm>
            <a:off x="6519672" y="54406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3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Monthly accuracy/precision report for any model in production, not just at launch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6519672" y="60350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3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retrain trigger tied to holdout drift, not a fixed calendar date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6400800" cy="64008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FD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Descriptive, honest, and pointed at the right cases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10312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that earns its place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43000" y="2496312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shipped for assigned_team because it generalises to live, unresolved cases — not just the slice it was measured 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324612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that was declined on evidence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43000" y="3639312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Escalation-team routing didn't beat guessing the majority class, so it stays a descriptive signal, not a prediction.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44348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438912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insight tool ranked by urgency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143000" y="4782312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spikes and aging backlog surface before raw volume does — exactly what June proved.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1775</Words>
  <Application>Microsoft Macintosh PowerPoint</Application>
  <PresentationFormat>Widescreen</PresentationFormat>
  <Paragraphs>185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 A</cp:lastModifiedBy>
  <cp:revision>3</cp:revision>
  <dcterms:created xsi:type="dcterms:W3CDTF">2026-08-25T11:57:39Z</dcterms:created>
  <dcterms:modified xsi:type="dcterms:W3CDTF">2026-08-25T12:19:27Z</dcterms:modified>
</cp:coreProperties>
</file>